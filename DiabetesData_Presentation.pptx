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4" Type="http://schemas.openxmlformats.org/officeDocument/2006/relationships/viewProps" Target="viewProps.xml" /><Relationship Id="rId2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6" Type="http://schemas.openxmlformats.org/officeDocument/2006/relationships/tableStyles" Target="tableStyles.xml" /><Relationship Id="rId2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github.com/sararaees786/Predictive-Modelling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Prediction of 30-Day Hospital Readmission in Patients with Diabetes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Sara Raees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2026-03-29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Dataset</a:t>
            </a:r>
            <a:r>
              <a:rPr/>
              <a:t>: Diabetes 130-US Hospitals for Years 1999–2008 (UCI Machine Learning Repository).</a:t>
            </a:r>
          </a:p>
          <a:p>
            <a:pPr lvl="0"/>
            <a:r>
              <a:rPr b="1"/>
              <a:t>Aim</a:t>
            </a:r>
            <a:r>
              <a:rPr/>
              <a:t>: Develop a prediction model for 30-day hospital readmission among hospitalized patients with diabetes.</a:t>
            </a:r>
          </a:p>
          <a:p>
            <a:pPr lvl="0"/>
            <a:r>
              <a:rPr b="1"/>
              <a:t>Approach</a:t>
            </a:r>
            <a:r>
              <a:rPr/>
              <a:t>: A stratified sample was used to preserve the proportion of patients readmitted within 30 days.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Study Population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Total observations</a:t>
            </a:r>
            <a:r>
              <a:rPr/>
              <a:t>: 20001</a:t>
            </a:r>
          </a:p>
          <a:p>
            <a:pPr lvl="0"/>
            <a:r>
              <a:rPr b="1"/>
              <a:t>Proportion readmitted within 30 days</a:t>
            </a:r>
            <a:r>
              <a:rPr/>
              <a:t>: 11.16%</a:t>
            </a:r>
          </a:p>
          <a:p>
            <a:pPr lvl="0"/>
            <a:r>
              <a:rPr b="1"/>
              <a:t>Outcome</a:t>
            </a:r>
            <a:r>
              <a:rPr/>
              <a:t>: Binary variable </a:t>
            </a:r>
            <a:r>
              <a:rPr>
                <a:latin typeface="Courier"/>
              </a:rPr>
              <a:t>readmit30</a:t>
            </a:r>
            <a:r>
              <a:rPr/>
              <a:t> (“Yes” / “No”)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Missingness Analysis</a:t>
            </a:r>
          </a:p>
        </p:txBody>
      </p:sp>
      <p:pic>
        <p:nvPicPr>
          <p:cNvPr descr="DiabetesData_Presentation_files/figure-pptx/missingness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54200" y="1193800"/>
            <a:ext cx="5422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Interpretation</a:t>
            </a:r>
            <a:r>
              <a:rPr/>
              <a:t>: Most variables have near-complete data. However, variables such as weight, medical_specialty, and payer_code show high missingness. Predictors with &gt;50% missing data are excluded prior to modeling.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Analysis: Age Group</a:t>
            </a:r>
          </a:p>
        </p:txBody>
      </p:sp>
      <p:pic>
        <p:nvPicPr>
          <p:cNvPr descr="DiabetesData_Presentation_files/figure-pptx/age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54200" y="1193800"/>
            <a:ext cx="5422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Interpretation</a:t>
            </a:r>
            <a:r>
              <a:rPr/>
              <a:t>: Readmission proportion slightly varies across age groups. While older patients make up a large portion of the cohort, the proportion of those readmitted within 30 days is comparable across advanced age categories.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Analysis: Time in Hospital</a:t>
            </a:r>
          </a:p>
        </p:txBody>
      </p:sp>
      <p:pic>
        <p:nvPicPr>
          <p:cNvPr descr="DiabetesData_Presentation_files/figure-pptx/hosp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62100" y="1193800"/>
            <a:ext cx="60325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Interpretation</a:t>
            </a:r>
            <a:r>
              <a:rPr/>
              <a:t>: Patients readmitted within 30 days (“Yes”) tend to have a slightly higher median time in the hospital during their initial stay compared to those not readmitted (“No”), suggesting longer initial stays may relate to higher readmission risk.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Analysis: Number of Medications</a:t>
            </a:r>
          </a:p>
        </p:txBody>
      </p:sp>
      <p:pic>
        <p:nvPicPr>
          <p:cNvPr descr="DiabetesData_Presentation_files/figure-pptx/meds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62100" y="1193800"/>
            <a:ext cx="60325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Interpretation</a:t>
            </a:r>
            <a:r>
              <a:rPr/>
              <a:t>: The distribution of number of medications is right-skewed. The group readmitted within 30 days has a notably wide spread in the number of prescribed medications, which may be a proxy for more complex or severe underlying health conditions.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Identifier Removal</a:t>
            </a:r>
            <a:r>
              <a:rPr/>
              <a:t>: Excluded </a:t>
            </a:r>
            <a:r>
              <a:rPr>
                <a:latin typeface="Courier"/>
              </a:rPr>
              <a:t>encounter_id</a:t>
            </a:r>
            <a:r>
              <a:rPr/>
              <a:t>, </a:t>
            </a:r>
            <a:r>
              <a:rPr>
                <a:latin typeface="Courier"/>
              </a:rPr>
              <a:t>patient_nbr</a:t>
            </a:r>
            <a:r>
              <a:rPr/>
              <a:t>.</a:t>
            </a:r>
          </a:p>
          <a:p>
            <a:pPr lvl="0"/>
            <a:r>
              <a:rPr b="1"/>
              <a:t>Threshold</a:t>
            </a:r>
            <a:r>
              <a:rPr/>
              <a:t>: Removed predictors with &gt;50% missingness.</a:t>
            </a:r>
          </a:p>
          <a:p>
            <a:pPr lvl="0"/>
            <a:r>
              <a:rPr b="1"/>
              <a:t>Train/Test Split</a:t>
            </a:r>
            <a:r>
              <a:rPr/>
              <a:t>: 70% Training / 30% Testing.</a:t>
            </a:r>
          </a:p>
          <a:p>
            <a:pPr lvl="0"/>
            <a:r>
              <a:rPr b="1"/>
              <a:t>Imputation</a:t>
            </a:r>
            <a:r>
              <a:rPr/>
              <a:t>:</a:t>
            </a:r>
          </a:p>
          <a:p>
            <a:pPr lvl="1"/>
            <a:r>
              <a:rPr/>
              <a:t>Numeric: Median Imputation</a:t>
            </a:r>
          </a:p>
          <a:p>
            <a:pPr lvl="1"/>
            <a:r>
              <a:rPr/>
              <a:t>Categorical: Added “Missing” category</a:t>
            </a:r>
          </a:p>
          <a:p>
            <a:pPr lvl="0"/>
            <a:r>
              <a:rPr b="1"/>
              <a:t>Models Evaluated</a:t>
            </a:r>
            <a:r>
              <a:rPr/>
              <a:t>:</a:t>
            </a:r>
          </a:p>
          <a:p>
            <a:pPr lvl="1" indent="-342900" marL="685800">
              <a:buAutoNum type="arabicPeriod"/>
            </a:pPr>
            <a:r>
              <a:rPr/>
              <a:t>Logistic Regression</a:t>
            </a:r>
          </a:p>
          <a:p>
            <a:pPr lvl="1" indent="-342900" marL="685800">
              <a:buAutoNum type="arabicPeriod"/>
            </a:pPr>
            <a:r>
              <a:rPr/>
              <a:t>Random Forest (</a:t>
            </a:r>
            <a:r>
              <a:rPr>
                <a:latin typeface="Courier"/>
              </a:rPr>
              <a:t>ntree = 300</a:t>
            </a:r>
            <a:r>
              <a:rPr/>
              <a:t>)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Logistic Regression: ROC Curve</a:t>
            </a:r>
          </a:p>
        </p:txBody>
      </p:sp>
      <p:pic>
        <p:nvPicPr>
          <p:cNvPr descr="DiabetesData_Presentation_files/figure-pptx/logit-roc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08200" y="1193800"/>
            <a:ext cx="4927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Logistic Regression: Calibration</a:t>
            </a:r>
          </a:p>
        </p:txBody>
      </p:sp>
      <p:pic>
        <p:nvPicPr>
          <p:cNvPr descr="DiabetesData_Presentation_files/figure-pptx/logit-calib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54200" y="1193800"/>
            <a:ext cx="5422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Random Forest: ROC Curve</a:t>
            </a:r>
          </a:p>
        </p:txBody>
      </p:sp>
      <p:pic>
        <p:nvPicPr>
          <p:cNvPr descr="DiabetesData_Presentation_files/figure-pptx/rf-roc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08200" y="1193800"/>
            <a:ext cx="4927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Random Forest: Calibration</a:t>
            </a:r>
          </a:p>
        </p:txBody>
      </p:sp>
      <p:pic>
        <p:nvPicPr>
          <p:cNvPr descr="DiabetesData_Presentation_files/figure-pptx/rf-calib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54200" y="1193800"/>
            <a:ext cx="5422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Random Forest: Variable Importance</a:t>
            </a:r>
          </a:p>
        </p:txBody>
      </p:sp>
      <p:pic>
        <p:nvPicPr>
          <p:cNvPr descr="DiabetesData_Presentation_files/figure-pptx/rf-varimp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08200" y="1193800"/>
            <a:ext cx="4927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Interpretation</a:t>
            </a:r>
            <a:r>
              <a:rPr/>
              <a:t>: Variables like </a:t>
            </a:r>
            <a:r>
              <a:rPr>
                <a:latin typeface="Courier"/>
              </a:rPr>
              <a:t>num_lab_procedures</a:t>
            </a:r>
            <a:r>
              <a:rPr/>
              <a:t>, </a:t>
            </a:r>
            <a:r>
              <a:rPr>
                <a:latin typeface="Courier"/>
              </a:rPr>
              <a:t>num_medications</a:t>
            </a:r>
            <a:r>
              <a:rPr/>
              <a:t>, </a:t>
            </a:r>
            <a:r>
              <a:rPr>
                <a:latin typeface="Courier"/>
              </a:rPr>
              <a:t>time_in_hospital</a:t>
            </a:r>
            <a:r>
              <a:rPr/>
              <a:t>, and </a:t>
            </a:r>
            <a:r>
              <a:rPr>
                <a:latin typeface="Courier"/>
              </a:rPr>
              <a:t>age</a:t>
            </a:r>
            <a:r>
              <a:rPr/>
              <a:t> consistently emerge as the most important predictors in the model. This emphasizes that healthcare utilization and demographic factors during the initial admission are key indicators of potential readmission risk.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Model Comparison</a:t>
            </a:r>
          </a:p>
        </p:txBody>
      </p:sp>
      <p:pic>
        <p:nvPicPr>
          <p:cNvPr descr="DiabetesData_Presentation_files/figure-pptx/model-comp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54200" y="1193800"/>
            <a:ext cx="5422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Summary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Logistic Regression</a:t>
            </a:r>
            <a:r>
              <a:rPr/>
              <a:t>:</a:t>
            </a:r>
          </a:p>
          <a:p>
            <a:pPr lvl="1"/>
            <a:r>
              <a:rPr/>
              <a:t>AUC: 0.506 | Brier Score: 0.155</a:t>
            </a:r>
          </a:p>
          <a:p>
            <a:pPr lvl="1"/>
            <a:r>
              <a:rPr/>
              <a:t>Performance is slightly better than random baseline, limited discriminatory ability.</a:t>
            </a:r>
          </a:p>
          <a:p>
            <a:pPr lvl="0"/>
            <a:r>
              <a:rPr b="1"/>
              <a:t>Random Forest</a:t>
            </a:r>
            <a:r>
              <a:rPr/>
              <a:t>:</a:t>
            </a:r>
          </a:p>
          <a:p>
            <a:pPr lvl="1"/>
            <a:r>
              <a:rPr/>
              <a:t>AUC: 0.619 | Brier Score: 0.0979</a:t>
            </a:r>
          </a:p>
          <a:p>
            <a:pPr lvl="1"/>
            <a:r>
              <a:rPr/>
              <a:t>Outperformed Logistic Regression with better overall discrimination and prediction accuracy.</a:t>
            </a:r>
          </a:p>
          <a:p>
            <a:pPr lvl="0"/>
            <a:r>
              <a:rPr b="1"/>
              <a:t>Conclusion</a:t>
            </a:r>
            <a:r>
              <a:rPr/>
              <a:t>: Predicting 30-day hospital readmission is challenging; Random Forest identifies high-risk patients better.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Project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Full code and analysis available on GitHub:</a:t>
            </a:r>
          </a:p>
          <a:p>
            <a:pPr lvl="0"/>
            <a:r>
              <a:rPr b="1">
                <a:hlinkClick r:id="rId2"/>
              </a:rPr>
              <a:t>https://github.com/sararaees786/Predictive-Modelling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Prediction of 30-Day Hospital Readmission in Patients with Diabetes</dc:title>
  <dc:creator>Sara Raees</dc:creator>
  <cp:keywords/>
  <dcterms:created xsi:type="dcterms:W3CDTF">2026-03-29T21:58:01Z</dcterms:created>
  <dcterms:modified xsi:type="dcterms:W3CDTF">2026-03-29T21:58:01Z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2026-03-29</vt:lpwstr>
  </property>
  <property fmtid="{D5CDD505-2E9C-101B-9397-08002B2CF9AE}" pid="3" name="output">
    <vt:lpwstr>powerpoint_presentation</vt:lpwstr>
  </property>
</Properties>
</file>